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E89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671169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1003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64592" cy="6711696"/>
          </a:xfrm>
          <a:prstGeom prst="rect">
            <a:avLst/>
          </a:prstGeom>
          <a:solidFill>
            <a:srgbClr val="007E89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357108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chemeClr val="bg1">
                    <a:lumMod val="95000"/>
                  </a:schemeClr>
                </a:solidFill>
              </a:rPr>
              <a:t>MICROTECH INC.</a:t>
            </a:r>
          </a:p>
          <a:p>
            <a:r>
              <a:rPr sz="3400" b="1" dirty="0">
                <a:solidFill>
                  <a:srgbClr val="FFFFFF"/>
                </a:solidFill>
              </a:rPr>
              <a:t>Corporate Tax &amp; Book-to-Tax</a:t>
            </a:r>
          </a:p>
          <a:p>
            <a:r>
              <a:rPr sz="3400" b="1" dirty="0">
                <a:solidFill>
                  <a:srgbClr val="FFFFFF"/>
                </a:solidFill>
              </a:rPr>
              <a:t>Adjustment Analysis</a:t>
            </a:r>
          </a:p>
          <a:p>
            <a:r>
              <a:rPr sz="1500" dirty="0">
                <a:solidFill>
                  <a:srgbClr val="D2DCE6"/>
                </a:solidFill>
              </a:rPr>
              <a:t>Professional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16636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FFFFFF"/>
                </a:solidFill>
              </a:rPr>
              <a:t>Prepared by Pritam Saha  |  Finance &amp; Tax Analysis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64806"/>
            <a:ext cx="3265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 err="1">
                <a:solidFill>
                  <a:schemeClr val="bg1">
                    <a:lumMod val="95000"/>
                  </a:schemeClr>
                </a:solidFill>
              </a:rPr>
              <a:t>Microtech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</a:rPr>
              <a:t> Inc. | Corporate Tax &amp; Book-to-Tax Project   •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1. Project Scope &amp; Tax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979"/>
                </a:solidFill>
              </a:rPr>
              <a:t>The workbook follows the core steps used to bridge financial accounting data to federal taxable income.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6294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B48"/>
                </a:solidFill>
              </a:rPr>
              <a:t>Work performed</a:t>
            </a:r>
          </a:p>
          <a:p>
            <a:pPr>
              <a:spcAft>
                <a:spcPts val="800"/>
              </a:spcAft>
              <a:defRPr sz="1300">
                <a:solidFill>
                  <a:srgbClr val="232B34"/>
                </a:solidFill>
              </a:defRPr>
            </a:pPr>
            <a:r>
              <a:t>• Reviewed and mapped the chart of accounts to Balance Sheet and Income Statement categories.</a:t>
            </a:r>
          </a:p>
          <a:p>
            <a:pPr>
              <a:spcAft>
                <a:spcPts val="800"/>
              </a:spcAft>
              <a:defRPr sz="1300">
                <a:solidFill>
                  <a:srgbClr val="232B34"/>
                </a:solidFill>
              </a:defRPr>
            </a:pPr>
            <a:r>
              <a:t>• Classified book-to-tax differences (BTDs) as permanent or temporary.</a:t>
            </a:r>
          </a:p>
          <a:p>
            <a:pPr>
              <a:spcAft>
                <a:spcPts val="800"/>
              </a:spcAft>
              <a:defRPr sz="1300">
                <a:solidFill>
                  <a:srgbClr val="232B34"/>
                </a:solidFill>
              </a:defRPr>
            </a:pPr>
            <a:r>
              <a:t>• Identified favorable and unfavorable tax adjustments.</a:t>
            </a:r>
          </a:p>
          <a:p>
            <a:pPr>
              <a:spcAft>
                <a:spcPts val="800"/>
              </a:spcAft>
              <a:defRPr sz="1300">
                <a:solidFill>
                  <a:srgbClr val="232B34"/>
                </a:solidFill>
              </a:defRPr>
            </a:pPr>
            <a:r>
              <a:t>• Calculated a specific depreciation timing difference using bonus depreciation.</a:t>
            </a:r>
          </a:p>
          <a:p>
            <a:pPr>
              <a:spcAft>
                <a:spcPts val="800"/>
              </a:spcAft>
              <a:defRPr sz="1300">
                <a:solidFill>
                  <a:srgbClr val="232B34"/>
                </a:solidFill>
              </a:defRPr>
            </a:pPr>
            <a:r>
              <a:t>• Converted pre-tax book income into federal taxable income and calculated the tax liability.</a:t>
            </a:r>
          </a:p>
          <a:p>
            <a:pPr>
              <a:spcAft>
                <a:spcPts val="800"/>
              </a:spcAft>
              <a:defRPr sz="1300">
                <a:solidFill>
                  <a:srgbClr val="232B34"/>
                </a:solidFill>
              </a:defRPr>
            </a:pPr>
            <a:r>
              <a:t>• Prepared a client-facing communication and identified opportunities to automate recurring tax-compliance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417320"/>
            <a:ext cx="361188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5240" y="1417320"/>
            <a:ext cx="73152" cy="1234440"/>
          </a:xfrm>
          <a:prstGeom prst="rect">
            <a:avLst/>
          </a:prstGeom>
          <a:solidFill>
            <a:srgbClr val="27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36408" y="1563624"/>
            <a:ext cx="3264408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979"/>
                </a:solidFill>
              </a:rPr>
              <a:t>Book income</a:t>
            </a:r>
          </a:p>
          <a:p>
            <a:r>
              <a:rPr sz="2300" b="1">
                <a:solidFill>
                  <a:srgbClr val="142B48"/>
                </a:solidFill>
              </a:rPr>
              <a:t>$3.3982M</a:t>
            </a:r>
          </a:p>
          <a:p>
            <a:r>
              <a:rPr sz="950">
                <a:solidFill>
                  <a:srgbClr val="232B34"/>
                </a:solidFill>
              </a:rPr>
              <a:t>Pre-tax income after adding back federal income tax expense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788920"/>
            <a:ext cx="361188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2788920"/>
            <a:ext cx="73152" cy="1234440"/>
          </a:xfrm>
          <a:prstGeom prst="rect">
            <a:avLst/>
          </a:prstGeom>
          <a:solidFill>
            <a:srgbClr val="00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2935224"/>
            <a:ext cx="3264408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979"/>
                </a:solidFill>
              </a:rPr>
              <a:t>Taxable income</a:t>
            </a:r>
          </a:p>
          <a:p>
            <a:r>
              <a:rPr sz="2300" b="1">
                <a:solidFill>
                  <a:srgbClr val="142B48"/>
                </a:solidFill>
              </a:rPr>
              <a:t>$3.4583M</a:t>
            </a:r>
          </a:p>
          <a:p>
            <a:r>
              <a:rPr sz="950">
                <a:solidFill>
                  <a:srgbClr val="232B34"/>
                </a:solidFill>
              </a:rPr>
              <a:t>After permanent and temporary BTD adjustments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160520"/>
            <a:ext cx="361188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4160520"/>
            <a:ext cx="73152" cy="1234440"/>
          </a:xfrm>
          <a:prstGeom prst="rect">
            <a:avLst/>
          </a:prstGeom>
          <a:solidFill>
            <a:srgbClr val="278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6408" y="4306824"/>
            <a:ext cx="3264408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979"/>
                </a:solidFill>
              </a:rPr>
              <a:t>Federal tax</a:t>
            </a:r>
          </a:p>
          <a:p>
            <a:r>
              <a:rPr sz="2300" b="1">
                <a:solidFill>
                  <a:srgbClr val="142B48"/>
                </a:solidFill>
              </a:rPr>
              <a:t>$726,243</a:t>
            </a:r>
          </a:p>
          <a:p>
            <a:r>
              <a:rPr sz="950">
                <a:solidFill>
                  <a:srgbClr val="232B34"/>
                </a:solidFill>
              </a:rPr>
              <a:t>21% rate applied to taxable income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dirty="0" err="1">
                <a:solidFill>
                  <a:srgbClr val="5B6979"/>
                </a:solidFill>
              </a:rPr>
              <a:t>Microtech</a:t>
            </a:r>
            <a:r>
              <a:rPr sz="850" dirty="0">
                <a:solidFill>
                  <a:srgbClr val="5B6979"/>
                </a:solidFill>
              </a:rPr>
              <a:t> Inc. | Corporate Tax &amp; Book-to-Tax Project   •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2. Book-to-Tax Difference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979"/>
                </a:solidFill>
              </a:rPr>
              <a:t>Permanent differences do not reverse; temporary differences arise from timing and reverse in future periods.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03520" cy="141732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417320"/>
          </a:xfrm>
          <a:prstGeom prst="rect">
            <a:avLst/>
          </a:prstGeom>
          <a:solidFill>
            <a:srgbClr val="D68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495604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979"/>
                </a:solidFill>
              </a:rPr>
              <a:t>PERMANENT DIFFERENCES</a:t>
            </a:r>
          </a:p>
          <a:p>
            <a:r>
              <a:rPr sz="2300" b="1">
                <a:solidFill>
                  <a:srgbClr val="142B48"/>
                </a:solidFill>
              </a:rPr>
              <a:t>$312,000</a:t>
            </a:r>
          </a:p>
          <a:p>
            <a:r>
              <a:rPr sz="950">
                <a:solidFill>
                  <a:srgbClr val="232B34"/>
                </a:solidFill>
              </a:rPr>
              <a:t>Unfavorable net adjustment in the 2025 taxable-income bridge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03520" cy="141732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73152" cy="1417320"/>
          </a:xfrm>
          <a:prstGeom prst="rect">
            <a:avLst/>
          </a:prstGeom>
          <a:solidFill>
            <a:srgbClr val="00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472184"/>
            <a:ext cx="495604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979"/>
                </a:solidFill>
              </a:rPr>
              <a:t>TEMPORARY DIFFERENCES</a:t>
            </a:r>
          </a:p>
          <a:p>
            <a:r>
              <a:rPr sz="2300" b="1">
                <a:solidFill>
                  <a:srgbClr val="142B48"/>
                </a:solidFill>
              </a:rPr>
              <a:t>($251,900)</a:t>
            </a:r>
          </a:p>
          <a:p>
            <a:r>
              <a:rPr sz="950">
                <a:solidFill>
                  <a:srgbClr val="232B34"/>
                </a:solidFill>
              </a:rPr>
              <a:t>Favorable net adjustment in the 2025 taxable-income bridge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63240"/>
            <a:ext cx="4846320" cy="438912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13639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Example BTD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3063240"/>
            <a:ext cx="2377440" cy="438912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96128" y="31363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063240"/>
            <a:ext cx="3703320" cy="438912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73567" y="3136392"/>
            <a:ext cx="35204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Tax effect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02152"/>
            <a:ext cx="4846320" cy="411480"/>
          </a:xfrm>
          <a:prstGeom prst="rect">
            <a:avLst/>
          </a:prstGeom>
          <a:solidFill>
            <a:srgbClr val="F8FAFC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575304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Federal income tax expense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3502152"/>
            <a:ext cx="2377440" cy="411480"/>
          </a:xfrm>
          <a:prstGeom prst="rect">
            <a:avLst/>
          </a:prstGeom>
          <a:solidFill>
            <a:srgbClr val="F8FAFC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96128" y="3575304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Permanent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3502152"/>
            <a:ext cx="3703320" cy="411480"/>
          </a:xfrm>
          <a:prstGeom prst="rect">
            <a:avLst/>
          </a:prstGeom>
          <a:solidFill>
            <a:srgbClr val="F8FAFC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73567" y="3575304"/>
            <a:ext cx="35204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Unfavorable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913632"/>
            <a:ext cx="4846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3986784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Meals &amp; Entertainment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913632"/>
            <a:ext cx="2377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96128" y="3986784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Permanent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913632"/>
            <a:ext cx="3703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73567" y="3986784"/>
            <a:ext cx="35204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Unfavorable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325112"/>
            <a:ext cx="4846320" cy="411480"/>
          </a:xfrm>
          <a:prstGeom prst="rect">
            <a:avLst/>
          </a:prstGeom>
          <a:solidFill>
            <a:srgbClr val="F8FAFC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4398264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Club Dues / Social Organization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4325112"/>
            <a:ext cx="2377440" cy="411480"/>
          </a:xfrm>
          <a:prstGeom prst="rect">
            <a:avLst/>
          </a:prstGeom>
          <a:solidFill>
            <a:srgbClr val="F8FAFC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96128" y="4398264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Permanent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4325112"/>
            <a:ext cx="3703320" cy="411480"/>
          </a:xfrm>
          <a:prstGeom prst="rect">
            <a:avLst/>
          </a:prstGeom>
          <a:solidFill>
            <a:srgbClr val="F8FAFC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73567" y="4398264"/>
            <a:ext cx="35204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Unfavorable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736592"/>
            <a:ext cx="4846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" y="4809744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Tax-exempt / Municipal Bond Interest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4736592"/>
            <a:ext cx="2377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96128" y="4809744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Permanent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4736592"/>
            <a:ext cx="3703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73567" y="4809744"/>
            <a:ext cx="35204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Favorable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148072"/>
            <a:ext cx="4846320" cy="411480"/>
          </a:xfrm>
          <a:prstGeom prst="rect">
            <a:avLst/>
          </a:prstGeom>
          <a:solidFill>
            <a:srgbClr val="F8FAFC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9808" y="5221224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Depreciation Expense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5148072"/>
            <a:ext cx="2377440" cy="411480"/>
          </a:xfrm>
          <a:prstGeom prst="rect">
            <a:avLst/>
          </a:prstGeom>
          <a:solidFill>
            <a:srgbClr val="F8FAFC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96128" y="5221224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Temporary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5148072"/>
            <a:ext cx="3703320" cy="411480"/>
          </a:xfrm>
          <a:prstGeom prst="rect">
            <a:avLst/>
          </a:prstGeom>
          <a:solidFill>
            <a:srgbClr val="F8FAFC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73567" y="5221224"/>
            <a:ext cx="35204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Varies by tax method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559552"/>
            <a:ext cx="4846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9808" y="5632704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Accrued Bonus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5559552"/>
            <a:ext cx="2377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596128" y="5632704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Temporary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5559552"/>
            <a:ext cx="37033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73567" y="5632704"/>
            <a:ext cx="35204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Timing difference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971032"/>
            <a:ext cx="4846320" cy="411480"/>
          </a:xfrm>
          <a:prstGeom prst="rect">
            <a:avLst/>
          </a:prstGeom>
          <a:solidFill>
            <a:srgbClr val="F8FAFC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8" y="6044184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Prepaid Rent &amp; Insurance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5971032"/>
            <a:ext cx="2377440" cy="411480"/>
          </a:xfrm>
          <a:prstGeom prst="rect">
            <a:avLst/>
          </a:prstGeom>
          <a:solidFill>
            <a:srgbClr val="F8FAFC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596128" y="6044184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Temporary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5971032"/>
            <a:ext cx="3703320" cy="411480"/>
          </a:xfrm>
          <a:prstGeom prst="rect">
            <a:avLst/>
          </a:prstGeom>
          <a:solidFill>
            <a:srgbClr val="F8FAFC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73567" y="6044184"/>
            <a:ext cx="35204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32B34"/>
                </a:solidFill>
              </a:rPr>
              <a:t>Timing difference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dirty="0">
                <a:solidFill>
                  <a:srgbClr val="5B6979"/>
                </a:solidFill>
              </a:rPr>
              <a:t>Key principle: favorable adjustments reduce taxable income; unfavorable adjustments increase taxable income.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B6979"/>
                </a:solidFill>
              </a:rPr>
              <a:t>Microtech Inc. | Corporate Tax &amp; Book-to-Tax Project   •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3. 2025 Taxable Income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979"/>
                </a:solidFill>
              </a:rPr>
              <a:t>The tax bridge reconciles pre-tax book income to federal taxable income.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903720" cy="658368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4475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B34"/>
                </a:solidFill>
              </a:rPr>
              <a:t>Net income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44475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42B48"/>
                </a:solidFill>
              </a:rPr>
              <a:t>$2,800,000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75688"/>
            <a:ext cx="6903720" cy="658368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B34"/>
                </a:solidFill>
              </a:rPr>
              <a:t>Add: federal income tax expense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19456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42B48"/>
                </a:solidFill>
              </a:rPr>
              <a:t>+ $598,200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25496"/>
            <a:ext cx="6903720" cy="658368"/>
          </a:xfrm>
          <a:prstGeom prst="roundRect">
            <a:avLst/>
          </a:prstGeom>
          <a:solidFill>
            <a:srgbClr val="E7F3F4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94436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B48"/>
                </a:solidFill>
              </a:rPr>
              <a:t>Pre-tax book income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94436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42B48"/>
                </a:solidFill>
              </a:rPr>
              <a:t>$3,398,200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75303"/>
            <a:ext cx="6903720" cy="658368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694176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B34"/>
                </a:solidFill>
              </a:rPr>
              <a:t>Permanent differences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694176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42B48"/>
                </a:solidFill>
              </a:rPr>
              <a:t>+ $312,000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25112"/>
            <a:ext cx="6903720" cy="658368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443983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32B34"/>
                </a:solidFill>
              </a:rPr>
              <a:t>Temporary differences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4443983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42B48"/>
                </a:solidFill>
              </a:rPr>
              <a:t>− $251,900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6903720" cy="658368"/>
          </a:xfrm>
          <a:prstGeom prst="roundRect">
            <a:avLst/>
          </a:prstGeom>
          <a:solidFill>
            <a:srgbClr val="E7F3F4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519379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B48"/>
                </a:solidFill>
              </a:rPr>
              <a:t>Federal taxable income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519379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42B48"/>
                </a:solidFill>
              </a:rPr>
              <a:t>$3,458,300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1508760"/>
            <a:ext cx="3429000" cy="141732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55279" y="1508760"/>
            <a:ext cx="73152" cy="1417320"/>
          </a:xfrm>
          <a:prstGeom prst="rect">
            <a:avLst/>
          </a:prstGeom>
          <a:solidFill>
            <a:srgbClr val="27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56448" y="1655063"/>
            <a:ext cx="30815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979"/>
                </a:solidFill>
              </a:rPr>
              <a:t>FEDERAL TAX RATE</a:t>
            </a:r>
          </a:p>
          <a:p>
            <a:r>
              <a:rPr sz="2300" b="1">
                <a:solidFill>
                  <a:srgbClr val="142B48"/>
                </a:solidFill>
              </a:rPr>
              <a:t>21%</a:t>
            </a:r>
          </a:p>
          <a:p>
            <a:r>
              <a:rPr sz="950">
                <a:solidFill>
                  <a:srgbClr val="232B34"/>
                </a:solidFill>
              </a:rPr>
              <a:t>Rate used in the workbook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154680"/>
            <a:ext cx="3429000" cy="141732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55279" y="3154680"/>
            <a:ext cx="73152" cy="1417320"/>
          </a:xfrm>
          <a:prstGeom prst="rect">
            <a:avLst/>
          </a:prstGeom>
          <a:solidFill>
            <a:srgbClr val="278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56448" y="3300984"/>
            <a:ext cx="308152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979"/>
                </a:solidFill>
              </a:rPr>
              <a:t>TOTAL FEDERAL TAX</a:t>
            </a:r>
          </a:p>
          <a:p>
            <a:r>
              <a:rPr sz="2300" b="1">
                <a:solidFill>
                  <a:srgbClr val="142B48"/>
                </a:solidFill>
              </a:rPr>
              <a:t>$726,243</a:t>
            </a:r>
          </a:p>
          <a:p>
            <a:r>
              <a:rPr sz="950">
                <a:solidFill>
                  <a:srgbClr val="232B34"/>
                </a:solidFill>
              </a:rPr>
              <a:t>$3,458,300 × 21%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489204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2B48"/>
                </a:solidFill>
              </a:rPr>
              <a:t>Calculation check</a:t>
            </a:r>
          </a:p>
          <a:p>
            <a:r>
              <a:rPr sz="1050">
                <a:solidFill>
                  <a:srgbClr val="232B34"/>
                </a:solidFill>
              </a:rPr>
              <a:t>$3,398,200 + $312,000 − $251,900 = $3,458,300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B6979"/>
                </a:solidFill>
              </a:rPr>
              <a:t>Microtech Inc. | Corporate Tax &amp; Book-to-Tax Project   •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4. Depreciation BTD: Bonus Depreciation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979"/>
                </a:solidFill>
              </a:rPr>
              <a:t>A $50,000 asset creates a timing difference between book depreciation and tax depreciation.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27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2898648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dirty="0">
                <a:solidFill>
                  <a:srgbClr val="5B6979"/>
                </a:solidFill>
              </a:rPr>
              <a:t>2025 BOOK DEPRECIATION</a:t>
            </a:r>
          </a:p>
          <a:p>
            <a:r>
              <a:rPr sz="2300" b="1" dirty="0">
                <a:solidFill>
                  <a:srgbClr val="142B48"/>
                </a:solidFill>
              </a:rPr>
              <a:t>$10,000</a:t>
            </a:r>
          </a:p>
          <a:p>
            <a:r>
              <a:rPr sz="950" dirty="0">
                <a:solidFill>
                  <a:srgbClr val="232B34"/>
                </a:solidFill>
              </a:rPr>
              <a:t>$50,000 ÷ 5-year useful life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4612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73152" cy="1234440"/>
          </a:xfrm>
          <a:prstGeom prst="rect">
            <a:avLst/>
          </a:prstGeom>
          <a:solidFill>
            <a:srgbClr val="00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1563624"/>
            <a:ext cx="2898648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979"/>
                </a:solidFill>
              </a:rPr>
              <a:t>2025 TAX DEPRECIATION</a:t>
            </a:r>
          </a:p>
          <a:p>
            <a:r>
              <a:rPr sz="2300" b="1">
                <a:solidFill>
                  <a:srgbClr val="142B48"/>
                </a:solidFill>
              </a:rPr>
              <a:t>$50,000</a:t>
            </a:r>
          </a:p>
          <a:p>
            <a:r>
              <a:rPr sz="950">
                <a:solidFill>
                  <a:srgbClr val="232B34"/>
                </a:solidFill>
              </a:rPr>
              <a:t>100% bonus depreciation assumption in the workbook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24612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75320" y="1417320"/>
            <a:ext cx="73152" cy="1234440"/>
          </a:xfrm>
          <a:prstGeom prst="rect">
            <a:avLst/>
          </a:prstGeom>
          <a:solidFill>
            <a:srgbClr val="278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76488" y="1563624"/>
            <a:ext cx="2898648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979"/>
                </a:solidFill>
              </a:rPr>
              <a:t>2025 BTD</a:t>
            </a:r>
          </a:p>
          <a:p>
            <a:r>
              <a:rPr sz="2300" b="1">
                <a:solidFill>
                  <a:srgbClr val="142B48"/>
                </a:solidFill>
              </a:rPr>
              <a:t>($40,000)</a:t>
            </a:r>
          </a:p>
          <a:p>
            <a:r>
              <a:rPr sz="950">
                <a:solidFill>
                  <a:srgbClr val="232B34"/>
                </a:solidFill>
              </a:rPr>
              <a:t>Favorable — reduces taxable income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154680"/>
            <a:ext cx="1371600" cy="411480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227832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3154680"/>
            <a:ext cx="1828800" cy="411480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59152" y="3227832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Book Dep.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3154680"/>
            <a:ext cx="1828800" cy="411480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87952" y="3227832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Tax Dep.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154680"/>
            <a:ext cx="1828800" cy="411480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16752" y="3227832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BTD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3154680"/>
            <a:ext cx="2560320" cy="411480"/>
          </a:xfrm>
          <a:prstGeom prst="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45552" y="3227832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Effect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566160"/>
            <a:ext cx="1371600" cy="438912"/>
          </a:xfrm>
          <a:prstGeom prst="rect">
            <a:avLst/>
          </a:prstGeom>
          <a:solidFill>
            <a:srgbClr val="F2F6F9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3648456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</a:rPr>
              <a:t>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566160"/>
            <a:ext cx="1828800" cy="438912"/>
          </a:xfrm>
          <a:prstGeom prst="rect">
            <a:avLst/>
          </a:prstGeom>
          <a:solidFill>
            <a:srgbClr val="F2F6F9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59152" y="3648456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4"/>
                </a:solidFill>
              </a:rPr>
              <a:t>$10,000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566160"/>
            <a:ext cx="1828800" cy="438912"/>
          </a:xfrm>
          <a:prstGeom prst="rect">
            <a:avLst/>
          </a:prstGeom>
          <a:solidFill>
            <a:srgbClr val="F2F6F9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87952" y="3648456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4"/>
                </a:solidFill>
              </a:rPr>
              <a:t>$50,000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566160"/>
            <a:ext cx="1828800" cy="438912"/>
          </a:xfrm>
          <a:prstGeom prst="rect">
            <a:avLst/>
          </a:prstGeom>
          <a:solidFill>
            <a:srgbClr val="F2F6F9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16752" y="3648456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4"/>
                </a:solidFill>
              </a:rPr>
              <a:t>($40,000)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3566160"/>
            <a:ext cx="2560320" cy="438912"/>
          </a:xfrm>
          <a:prstGeom prst="rect">
            <a:avLst/>
          </a:prstGeom>
          <a:solidFill>
            <a:srgbClr val="F2F6F9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45552" y="3648456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78555"/>
                </a:solidFill>
              </a:rPr>
              <a:t>Favorable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005072"/>
            <a:ext cx="1371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" y="408736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</a:rPr>
              <a:t>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4005072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59152" y="4087368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4"/>
                </a:solidFill>
              </a:rPr>
              <a:t>$10,000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4005072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87952" y="4087368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4"/>
                </a:solidFill>
              </a:rP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4005072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16752" y="4087368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4"/>
                </a:solidFill>
              </a:rPr>
              <a:t>$10,000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4005072"/>
            <a:ext cx="25603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45552" y="4087368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D6802B"/>
                </a:solidFill>
              </a:rPr>
              <a:t>Unfavorable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4443984"/>
            <a:ext cx="1371600" cy="438912"/>
          </a:xfrm>
          <a:prstGeom prst="rect">
            <a:avLst/>
          </a:prstGeom>
          <a:solidFill>
            <a:srgbClr val="F2F6F9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7552" y="4526280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</a:rPr>
              <a:t>2027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4443984"/>
            <a:ext cx="1828800" cy="438912"/>
          </a:xfrm>
          <a:prstGeom prst="rect">
            <a:avLst/>
          </a:prstGeom>
          <a:solidFill>
            <a:srgbClr val="F2F6F9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359152" y="4526280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4"/>
                </a:solidFill>
              </a:rPr>
              <a:t>$10,000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4443984"/>
            <a:ext cx="1828800" cy="438912"/>
          </a:xfrm>
          <a:prstGeom prst="rect">
            <a:avLst/>
          </a:prstGeom>
          <a:solidFill>
            <a:srgbClr val="F2F6F9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87952" y="4526280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4"/>
                </a:solidFill>
              </a:rPr>
              <a:t>$0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4443984"/>
            <a:ext cx="1828800" cy="438912"/>
          </a:xfrm>
          <a:prstGeom prst="rect">
            <a:avLst/>
          </a:prstGeom>
          <a:solidFill>
            <a:srgbClr val="F2F6F9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16752" y="4526280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4"/>
                </a:solidFill>
              </a:rPr>
              <a:t>$10,000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443984"/>
            <a:ext cx="2560320" cy="438912"/>
          </a:xfrm>
          <a:prstGeom prst="rect">
            <a:avLst/>
          </a:prstGeom>
          <a:solidFill>
            <a:srgbClr val="F2F6F9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845552" y="4526280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D6802B"/>
                </a:solidFill>
              </a:rPr>
              <a:t>Unfavorable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4882896"/>
            <a:ext cx="13716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7552" y="4965192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</a:rPr>
              <a:t>2028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4882896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359152" y="4965192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4"/>
                </a:solidFill>
              </a:rPr>
              <a:t>$10,000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4882896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87952" y="4965192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4"/>
                </a:solidFill>
              </a:rPr>
              <a:t>$0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0" y="4882896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016752" y="4965192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4"/>
                </a:solidFill>
              </a:rPr>
              <a:t>$10,000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0" y="4882896"/>
            <a:ext cx="25603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45552" y="4965192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D6802B"/>
                </a:solidFill>
              </a:rPr>
              <a:t>Unfavorable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" y="5321808"/>
            <a:ext cx="1371600" cy="438912"/>
          </a:xfrm>
          <a:prstGeom prst="rect">
            <a:avLst/>
          </a:prstGeom>
          <a:solidFill>
            <a:srgbClr val="F2F6F9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87552" y="5404104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</a:rPr>
              <a:t>2029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0" y="5321808"/>
            <a:ext cx="1828800" cy="438912"/>
          </a:xfrm>
          <a:prstGeom prst="rect">
            <a:avLst/>
          </a:prstGeom>
          <a:solidFill>
            <a:srgbClr val="F2F6F9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359152" y="5404104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4"/>
                </a:solidFill>
              </a:rPr>
              <a:t>$10,000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5321808"/>
            <a:ext cx="1828800" cy="438912"/>
          </a:xfrm>
          <a:prstGeom prst="rect">
            <a:avLst/>
          </a:prstGeom>
          <a:solidFill>
            <a:srgbClr val="F2F6F9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187952" y="5404104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4"/>
                </a:solidFill>
              </a:rPr>
              <a:t>$0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0" y="5321808"/>
            <a:ext cx="1828800" cy="438912"/>
          </a:xfrm>
          <a:prstGeom prst="rect">
            <a:avLst/>
          </a:prstGeom>
          <a:solidFill>
            <a:srgbClr val="F2F6F9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16752" y="5404104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4"/>
                </a:solidFill>
              </a:rPr>
              <a:t>$10,000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0" y="5321808"/>
            <a:ext cx="2560320" cy="438912"/>
          </a:xfrm>
          <a:prstGeom prst="rect">
            <a:avLst/>
          </a:prstGeom>
          <a:solidFill>
            <a:srgbClr val="F2F6F9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845552" y="5404104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D6802B"/>
                </a:solidFill>
              </a:rPr>
              <a:t>Unfavorable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7240" y="58064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B6979"/>
                </a:solidFill>
              </a:rPr>
              <a:t>Interpretation: the accelerated tax deduction lowers taxable income in 2025, while the book depreciation continues in later years and the timing difference reverses.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240" y="6172200"/>
            <a:ext cx="352051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 i="1" dirty="0">
                <a:solidFill>
                  <a:srgbClr val="5B6979"/>
                </a:solidFill>
              </a:rPr>
              <a:t>Source noted in workbook: IRS Publication 946 (Depreciation of Property).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B6979"/>
                </a:solidFill>
              </a:rPr>
              <a:t>Microtech Inc. | Corporate Tax &amp; Book-to-Tax Project   •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5. Client Insights &amp; Process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979"/>
                </a:solidFill>
              </a:rPr>
              <a:t>The final task translates the tax analysis into practical compliance-process recommendations.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401568" cy="214884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1600200"/>
            <a:ext cx="475488" cy="475488"/>
          </a:xfrm>
          <a:prstGeom prst="ellipse">
            <a:avLst/>
          </a:prstGeom>
          <a:solidFill>
            <a:srgbClr val="275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73352"/>
            <a:ext cx="4754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1572768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B48"/>
                </a:solidFill>
              </a:rPr>
              <a:t>Trial Balance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40280"/>
            <a:ext cx="2926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232B34"/>
                </a:solidFill>
              </a:rPr>
              <a:t>Cleanse, standardize and map trial-balance accounts before import into tax software.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417320"/>
            <a:ext cx="3401568" cy="214884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17720" y="1600200"/>
            <a:ext cx="475488" cy="475488"/>
          </a:xfrm>
          <a:prstGeom prst="ellipse">
            <a:avLst/>
          </a:prstGeom>
          <a:solidFill>
            <a:srgbClr val="00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673352"/>
            <a:ext cx="4754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936" y="1572768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B48"/>
                </a:solidFill>
              </a:rPr>
              <a:t>Fixed Asset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240280"/>
            <a:ext cx="29260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232B34"/>
                </a:solidFill>
              </a:rPr>
              <a:t>Improve tracking of asset volume, acquisition dates, depreciation methods and recurring book-to-tax adjustments.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417320"/>
            <a:ext cx="3401568" cy="2148840"/>
          </a:xfrm>
          <a:prstGeom prst="roundRect">
            <a:avLst/>
          </a:prstGeom>
          <a:solidFill>
            <a:srgbClr val="F2F6F9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80" y="1600200"/>
            <a:ext cx="475488" cy="475488"/>
          </a:xfrm>
          <a:prstGeom prst="ellipse">
            <a:avLst/>
          </a:prstGeom>
          <a:solidFill>
            <a:srgbClr val="278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673352"/>
            <a:ext cx="4754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1572768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B48"/>
                </a:solidFill>
              </a:rPr>
              <a:t>Review &amp; Scalability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240280"/>
            <a:ext cx="29260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232B34"/>
                </a:solidFill>
              </a:rPr>
              <a:t>Reduce repetitive manual work so the tax team can focus more on review, analysis and tax planning.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069080"/>
            <a:ext cx="10927080" cy="1280160"/>
          </a:xfrm>
          <a:prstGeom prst="roundRect">
            <a:avLst/>
          </a:prstGeom>
          <a:solidFill>
            <a:srgbClr val="14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315968"/>
            <a:ext cx="10588752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85CFD3"/>
                </a:solidFill>
              </a:rPr>
              <a:t>Portfolio takeaway</a:t>
            </a:r>
          </a:p>
          <a:p>
            <a:r>
              <a:rPr sz="1400" b="1" dirty="0">
                <a:solidFill>
                  <a:srgbClr val="FFFFFF"/>
                </a:solidFill>
              </a:rPr>
              <a:t>Demonstrates practical understanding of tax-account mapping, book-to-tax reconciliation, temporary-difference analysis, taxable-income calculation, and professional client communication.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2356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42B48"/>
                </a:solidFill>
              </a:rPr>
              <a:t>Skills demonstrated:  Tax Compliance  •  Book-to-Tax Adjustments  •  Corporate Tax  •  Excel  •  Financial Analysis  •  Accounting  •  Client Communication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B6979"/>
                </a:solidFill>
              </a:rPr>
              <a:t>Microtech Inc. | Corporate Tax &amp; Book-to-Tax Project   •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688</Words>
  <Application>Microsoft Office PowerPoint</Application>
  <PresentationFormat>Widescreen</PresentationFormat>
  <Paragraphs>141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Pritam Saha</cp:lastModifiedBy>
  <cp:revision>2</cp:revision>
  <dcterms:created xsi:type="dcterms:W3CDTF">2013-01-27T09:14:16Z</dcterms:created>
  <dcterms:modified xsi:type="dcterms:W3CDTF">2026-10-01T13:40:47Z</dcterms:modified>
  <cp:category/>
</cp:coreProperties>
</file>